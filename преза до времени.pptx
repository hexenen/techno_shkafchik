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6" r:id="rId8"/>
    <p:sldId id="260" r:id="rId9"/>
    <p:sldId id="261" r:id="rId10"/>
    <p:sldId id="262" r:id="rId11"/>
    <p:sldId id="263" r:id="rId12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59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roundedCorners val="0"/>
  <c:style val="2"/>
  <c:chart>
    <c:autoTitleDeleted val="1"/>
    <c:plotArea>
      <c:layout/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0">
          <a:noFill/>
        </a:ln>
      </c:spPr>
    </c:plotArea>
    <c:legend>
      <c:legendPos val="r"/>
      <c:layout/>
      <c:overlay val="0"/>
      <c:spPr>
        <a:noFill/>
        <a:ln w="0">
          <a:noFill/>
        </a:ln>
      </c:spPr>
      <c:txPr>
        <a:bodyPr/>
        <a:lstStyle/>
        <a:p>
          <a:pPr>
            <a:defRPr sz="1000" b="0" strike="noStrike" spc="-1">
              <a:solidFill>
                <a:srgbClr val="000000"/>
              </a:solidFill>
              <a:latin typeface="Arial"/>
            </a:defRPr>
          </a:pPr>
          <a:endParaRPr lang="ru-RU"/>
        </a:p>
      </c:txPr>
    </c:legend>
    <c:plotVisOnly val="1"/>
    <c:dispBlanksAs val="zero"/>
    <c:showDLblsOverMax val="1"/>
  </c:chart>
  <c:spPr>
    <a:noFill/>
    <a:ln w="0"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8BB3446-909B-43C1-AA48-9026EFAA455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ACF89DC-8DF3-41DE-85B8-C6D62250456C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A8155F-7503-4D67-B51D-1FB14F471AA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6022DCC-B52C-4BB9-B88B-822B7F1496E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43F3169-7FA4-4E41-8035-88AA8D2DE11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C05BECD-6DC4-44C8-A711-77437B18F2A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BF82BFE-7F54-4F1D-BDDE-2BB4D9F892A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95E5324-EBA4-4A64-9C46-59B52455031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6A15230-C1A0-4219-A5D7-E4F000240DE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F8574FB-E212-463B-BF68-3222CC2C153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EDDF3D8-FD82-463B-8FBF-239FE477EBF0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91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91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91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91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91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91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338D20F-18B0-4768-9BEC-47FE482121D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950631-3F10-48FB-ADD5-C6D7DC2F34BA}" type="slidenum"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&#1072;&#1094;&#1091;&#1094;" TargetMode="External"/><Relationship Id="rId2" Type="http://schemas.openxmlformats.org/officeDocument/2006/relationships/hyperlink" Target="https://edu.gov.ru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&#1090;&#1088;&#1077;&#1090;&#1077;&#1088;&#1090;" TargetMode="External"/><Relationship Id="rId4" Type="http://schemas.openxmlformats.org/officeDocument/2006/relationships/hyperlink" Target="https://docs.espressif.com/projects/arduino-esp32/en/latest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65 бесплатных фонов для презентации – скачать бесплатн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080625" cy="56705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Государственное бюджетное общеобразовательное учреждение города Москвы «Школа ГБОУ №2098 имени Героя Советского Союза </a:t>
            </a:r>
            <a:r>
              <a:rPr lang="ru-RU" sz="2000" b="0" strike="noStrike" spc="-1" dirty="0" err="1">
                <a:solidFill>
                  <a:schemeClr val="bg1"/>
                </a:solidFill>
                <a:latin typeface="Arial"/>
              </a:rPr>
              <a:t>Л.М.Доватора</a:t>
            </a: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» 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660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Разработка школьного шкафчика с пропуском по школьной карте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39820" y="3110460"/>
            <a:ext cx="4439880" cy="19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000" b="0" strike="noStrike" spc="-1" dirty="0">
                <a:solidFill>
                  <a:schemeClr val="bg1"/>
                </a:solidFill>
                <a:latin typeface="Arial"/>
                <a:ea typeface="Microsoft YaHei"/>
              </a:rPr>
              <a:t>Участники: Ученики Школы №2098 </a:t>
            </a: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имени Героя Советского Союза </a:t>
            </a:r>
            <a:r>
              <a:rPr lang="ru-RU" sz="2000" b="0" strike="noStrike" spc="-1" dirty="0" err="1">
                <a:solidFill>
                  <a:schemeClr val="bg1"/>
                </a:solidFill>
                <a:latin typeface="Arial"/>
              </a:rPr>
              <a:t>Л.М.Доватора</a:t>
            </a: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» </a:t>
            </a:r>
            <a:endParaRPr lang="ru-RU" sz="2000" b="0" strike="noStrike" spc="-1" dirty="0" smtClean="0">
              <a:solidFill>
                <a:schemeClr val="bg1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000" b="0" strike="noStrike" spc="-1" dirty="0" err="1" smtClean="0">
                <a:solidFill>
                  <a:schemeClr val="bg1"/>
                </a:solidFill>
                <a:latin typeface="Arial"/>
              </a:rPr>
              <a:t>Михейчев</a:t>
            </a:r>
            <a:r>
              <a:rPr lang="ru-RU" sz="2000" b="0" strike="noStrike" spc="-1" dirty="0" smtClean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Кирилл Максимович</a:t>
            </a:r>
          </a:p>
          <a:p>
            <a:pPr algn="ctr">
              <a:lnSpc>
                <a:spcPct val="100000"/>
              </a:lnSpc>
            </a:pP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Неофитов Тимофей Алексеевич</a:t>
            </a:r>
          </a:p>
          <a:p>
            <a:pPr algn="ctr">
              <a:lnSpc>
                <a:spcPct val="100000"/>
              </a:lnSpc>
            </a:pP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Меркулов Леонид Романович</a:t>
            </a:r>
          </a:p>
          <a:p>
            <a:pPr algn="ctr">
              <a:lnSpc>
                <a:spcPct val="100000"/>
              </a:lnSpc>
            </a:pP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Класс: 10Т</a:t>
            </a:r>
          </a:p>
          <a:p>
            <a:pPr algn="ctr">
              <a:lnSpc>
                <a:spcPct val="100000"/>
              </a:lnSpc>
            </a:pPr>
            <a:endParaRPr lang="ru-RU" sz="2000" b="0" strike="noStrike" spc="-1" dirty="0">
              <a:solidFill>
                <a:schemeClr val="bg1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2000" b="0" strike="noStrike" spc="-1" dirty="0">
              <a:solidFill>
                <a:schemeClr val="bg1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Руководитель: </a:t>
            </a:r>
            <a:r>
              <a:rPr lang="ru-RU" sz="2000" b="0" strike="noStrike" spc="-1" dirty="0" err="1">
                <a:solidFill>
                  <a:schemeClr val="bg1"/>
                </a:solidFill>
                <a:latin typeface="Arial"/>
              </a:rPr>
              <a:t>Гоптарь</a:t>
            </a:r>
            <a:r>
              <a:rPr lang="ru-RU" sz="2000" b="0" strike="noStrike" spc="-1" dirty="0">
                <a:solidFill>
                  <a:schemeClr val="bg1"/>
                </a:solidFill>
                <a:latin typeface="Arial"/>
              </a:rPr>
              <a:t> Евгений Андреевич</a:t>
            </a:r>
          </a:p>
        </p:txBody>
      </p:sp>
      <p:pic>
        <p:nvPicPr>
          <p:cNvPr id="1028" name="Picture 4" descr="Государственное бюджетное общеобразовательное учреждение города Москвы &quot; Школа № 2098 &quot;Многопрофильный образовательный центр&quot; имени Героя Советского  Союза Л.М. Доватора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3240000"/>
            <a:ext cx="2105025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0180" y="-405450"/>
            <a:ext cx="9071640" cy="1250280"/>
          </a:xfrm>
        </p:spPr>
        <p:txBody>
          <a:bodyPr/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Суть проекта. Идея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/>
          </p:nvPr>
        </p:nvSpPr>
        <p:spPr>
          <a:xfrm>
            <a:off x="262255" y="457200"/>
            <a:ext cx="8808720" cy="2560320"/>
          </a:xfrm>
        </p:spPr>
        <p:txBody>
          <a:bodyPr/>
          <a:lstStyle/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представляет собой разработку и создание прототипа автоматизированной системы контроля доступа к индивидуальным школьным шкафчикам на основе RFID-идентификации. Основная концепция заключается в интеграции уже существующей инфраструктуры — школьных электронных пропусков — для управления персональным пространством хранения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суть проекта — в практической реализации законченного решения «умного» доступа, которое повышает удобство, безопасность и технологический уровень школьной среды, демонстрируя работу связки «аппаратная часть — управляющая программа — исполнительное устройство» в рамках реальной прикладной задачи.</a:t>
            </a:r>
          </a:p>
        </p:txBody>
      </p:sp>
      <p:pic>
        <p:nvPicPr>
          <p:cNvPr id="1026" name="Picture 2" descr="Проект: что это такое, классификация, методы управлени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3808170"/>
            <a:ext cx="2493699" cy="16608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267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1140" y="-283980"/>
            <a:ext cx="9071640" cy="1250280"/>
          </a:xfrm>
        </p:spPr>
        <p:txBody>
          <a:bodyPr/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рыночных аналогов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/>
          </p:nvPr>
        </p:nvSpPr>
        <p:spPr>
          <a:xfrm>
            <a:off x="153480" y="-535140"/>
            <a:ext cx="9927145" cy="3288240"/>
          </a:xfrm>
        </p:spPr>
        <p:txBody>
          <a:bodyPr/>
          <a:lstStyle/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провели анализ существующих решений на рынке и рассмотрели коммерческие аналоги — например, готовые RFID-шкафчики от производителей умных замков.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854992"/>
              </p:ext>
            </p:extLst>
          </p:nvPr>
        </p:nvGraphicFramePr>
        <p:xfrm>
          <a:off x="1009051" y="1700036"/>
          <a:ext cx="7692989" cy="3356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490"/>
                <a:gridCol w="2441399"/>
                <a:gridCol w="3467100"/>
              </a:tblGrid>
              <a:tr h="418227">
                <a:tc>
                  <a:txBody>
                    <a:bodyPr/>
                    <a:lstStyle/>
                    <a:p>
                      <a:r>
                        <a:rPr lang="ru-RU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</a:t>
                      </a:r>
                      <a:r>
                        <a:rPr lang="ru-RU" sz="14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Рын.</a:t>
                      </a:r>
                      <a:r>
                        <a:rPr lang="ru-RU" sz="14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Аналог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 проект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65139">
                <a:tc>
                  <a:txBody>
                    <a:bodyPr/>
                    <a:lstStyle/>
                    <a:p>
                      <a:r>
                        <a:rPr lang="ru-RU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Стоимость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Высокая (от 15 000₽</a:t>
                      </a:r>
                      <a:r>
                        <a:rPr lang="ru-RU" sz="14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 шкафчик) (-)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Низкая (до 3 000 ₽ за прототип) (+)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8227">
                <a:tc>
                  <a:txBody>
                    <a:bodyPr/>
                    <a:lstStyle/>
                    <a:p>
                      <a:r>
                        <a:rPr lang="ru-RU" sz="1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Гибкость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Ограничена, ПО закрытое (-)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Открытый код, любые доработки (+)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1418"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Образовательная ценность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Потребительское решение (-)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полный цикл разработки (+)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1418"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Надёжность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Промышленное исполнение, гарантия (+)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Зависит от качества сборки (-)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1418"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Масштабируемость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Готовая система на множество шкафчиков (+)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Требует доработки сети и ПО (-)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14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888360" y="481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Arial"/>
              </a:rPr>
              <a:t>Актуальность</a:t>
            </a:r>
          </a:p>
        </p:txBody>
      </p:sp>
      <p:graphicFrame>
        <p:nvGraphicFramePr>
          <p:cNvPr id="46" name="Диаграмма 45"/>
          <p:cNvGraphicFramePr/>
          <p:nvPr>
            <p:extLst>
              <p:ext uri="{D42A27DB-BD31-4B8C-83A1-F6EECF244321}">
                <p14:modId xmlns:p14="http://schemas.microsoft.com/office/powerpoint/2010/main" val="2132997731"/>
              </p:ext>
            </p:extLst>
          </p:nvPr>
        </p:nvGraphicFramePr>
        <p:xfrm>
          <a:off x="606675" y="1279050"/>
          <a:ext cx="3060000" cy="328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80000" y="180000"/>
            <a:ext cx="18072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0000" y="393120"/>
            <a:ext cx="5580000" cy="320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ru-RU" sz="2000" b="1" strike="noStrike" spc="-1" dirty="0">
                <a:latin typeface="Times New Roman"/>
              </a:rPr>
              <a:t>Проект</a:t>
            </a:r>
            <a:r>
              <a:rPr lang="ru-RU" sz="2000" b="0" strike="noStrike" spc="-1" dirty="0">
                <a:latin typeface="Times New Roman"/>
              </a:rPr>
              <a:t> электронных шкафчиков повышает безопасность учеников, оптимизирует школьные процессы через автоматизацию и интеграцию в единую цифровую карту, а также служит практическим образовательным инструментом для изучения современных технологий.</a:t>
            </a:r>
          </a:p>
        </p:txBody>
      </p:sp>
      <p:pic>
        <p:nvPicPr>
          <p:cNvPr id="49" name="Рисунок 48"/>
          <p:cNvPicPr/>
          <p:nvPr/>
        </p:nvPicPr>
        <p:blipFill>
          <a:blip r:embed="rId3"/>
          <a:stretch/>
        </p:blipFill>
        <p:spPr>
          <a:xfrm>
            <a:off x="5940000" y="393120"/>
            <a:ext cx="3645360" cy="2431440"/>
          </a:xfrm>
          <a:prstGeom prst="rect">
            <a:avLst/>
          </a:prstGeom>
          <a:ln w="0"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  <p:pic>
        <p:nvPicPr>
          <p:cNvPr id="2052" name="Picture 4" descr="Регламент передачи проектов между менеджерами - Виталий Салахмир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48" y="2583180"/>
            <a:ext cx="4751705" cy="26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-234348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Times New Roman"/>
              </a:rPr>
              <a:t>Цели и задачи</a:t>
            </a: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7405" y="619011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solidFill>
                  <a:srgbClr val="000000"/>
                </a:solidFill>
                <a:latin typeface="Times New Roman"/>
              </a:rPr>
              <a:t>Спроектировать школьный шкафчик и разработать алгоритм открытия шкафчика при прикладывании школьной карты.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solidFill>
                  <a:srgbClr val="000000"/>
                </a:solidFill>
                <a:latin typeface="Times New Roman"/>
              </a:rPr>
              <a:t>Основные этапы реализации проекта включают анализ и подбор компонентов, сборку и монтаж схемы, написание и отладку программного кода, комплексное тестирование системы, а также финальную сборку в корпус и подготовку документации.</a:t>
            </a:r>
          </a:p>
        </p:txBody>
      </p:sp>
      <p:pic>
        <p:nvPicPr>
          <p:cNvPr id="3076" name="Picture 4" descr="Бизнесмен идет по лестнице к успеху | Бесплатный вектор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676" y="3051537"/>
            <a:ext cx="1752990" cy="13161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Смешные картинки Достижение цели 31 фото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" t="2193" r="-1463" b="-2193"/>
          <a:stretch/>
        </p:blipFill>
        <p:spPr bwMode="auto">
          <a:xfrm>
            <a:off x="4623225" y="2604609"/>
            <a:ext cx="3907926" cy="26052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2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для выполнения проекта</a:t>
            </a: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118100"/>
            <a:ext cx="4921440" cy="47935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</a:pPr>
            <a:r>
              <a:rPr lang="ru-RU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 и подключение – 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YouTube – </a:t>
            </a:r>
            <a:r>
              <a:rPr lang="ru-RU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Разборы принципов работы компонентов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</a:pPr>
            <a:r>
              <a:rPr lang="ru-RU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С++ - </a:t>
            </a:r>
            <a:r>
              <a:rPr lang="ru-RU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всего проекта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</a:pPr>
            <a:r>
              <a:rPr lang="en-US" sz="2000" b="0" strike="noStrike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помощь в написании кода и подключения компонентов</a:t>
            </a:r>
            <a:endParaRPr lang="ru-RU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Рисунок 53"/>
          <p:cNvPicPr/>
          <p:nvPr/>
        </p:nvPicPr>
        <p:blipFill>
          <a:blip r:embed="rId2"/>
          <a:stretch/>
        </p:blipFill>
        <p:spPr>
          <a:xfrm>
            <a:off x="6307620" y="1439100"/>
            <a:ext cx="1159980" cy="1235520"/>
          </a:xfrm>
          <a:prstGeom prst="rect">
            <a:avLst/>
          </a:prstGeom>
          <a:ln w="0">
            <a:noFill/>
          </a:ln>
          <a:effectLst>
            <a:innerShdw blurRad="114300">
              <a:prstClr val="black"/>
            </a:innerShdw>
          </a:effectLst>
        </p:spPr>
      </p:pic>
      <p:pic>
        <p:nvPicPr>
          <p:cNvPr id="4098" name="Picture 2" descr="Файл:Youtube logo.png — Википеди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297" y="1524720"/>
            <a:ext cx="1127342" cy="7803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Файл:ISO C++ Logo.svg — Википедия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956" y="2954065"/>
            <a:ext cx="1200200" cy="1350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Иконки, логотипы, символы Deepseek — Скачать в PNG и SVG бесплатно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795" y="2954065"/>
            <a:ext cx="1333523" cy="13335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4480" y="-306840"/>
            <a:ext cx="9071640" cy="1250280"/>
          </a:xfrm>
        </p:spPr>
        <p:txBody>
          <a:bodyPr/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языка программирования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/>
          </p:nvPr>
        </p:nvSpPr>
        <p:spPr>
          <a:xfrm>
            <a:off x="183960" y="-457052"/>
            <a:ext cx="9071640" cy="32882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программирования микроконтроллера ESP32 мы выбрали язык C++ в среде разработки 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IDE. Вот ключевые причины этого решения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3960" y="1590856"/>
            <a:ext cx="71323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Прямой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железу и эффективность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обеспечивает низкоуровневый контроль над периферией (GPIO, SPI, ШИМ), что критично для точного управления сервоприводом и обработки данных с RFID-считывателя в реальном времени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3960" y="2882881"/>
            <a:ext cx="6332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Совместимость с экосистемой ESP32 и библиотеками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библиотеки для работы с RC522 (MFRC522), сервоприводами (Servo) и Wi-Fi созданы именно на C++. Их интеграция происходит практически без накладок.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960" y="4103867"/>
            <a:ext cx="7132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памяти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Прошивка на C++ позволяет точно контролировать использование оперативной и флэш-памяти ESP32, что важно при хранении базы RFID-карт и сетевых функций.</a:t>
            </a:r>
          </a:p>
        </p:txBody>
      </p:sp>
      <p:pic>
        <p:nvPicPr>
          <p:cNvPr id="2050" name="Picture 2" descr="https://i.pinimg.com/736x/3d/cc/f3/3dccf3ccbbd8810b0d6f18ecccc6f7a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280" y="1430695"/>
            <a:ext cx="2486820" cy="16578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280" y="3575830"/>
            <a:ext cx="2486820" cy="16578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463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328159" y="2888082"/>
            <a:ext cx="3132232" cy="26440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249" y="-428760"/>
            <a:ext cx="9071640" cy="1250280"/>
          </a:xfrm>
        </p:spPr>
        <p:txBody>
          <a:bodyPr/>
          <a:lstStyle/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Фрагменты кода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089" y="196380"/>
            <a:ext cx="2971800" cy="25151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91440" y="481088"/>
            <a:ext cx="36880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слайд показывает ключевые части прошивки. Здесь видна инициализация RFID-считывателя, точная настройка сервоприводов через таймеры ESP32 и конфигурация светодиодов. Основная логика — в функции проверки карты: обнаружение, чтение UID и сравнение с базой данных в памяти. Код поддерживает два режима: обучение (добавление новых карт) и работу (верификацию и управление сервоприводом). Слайд иллюстрирует, как программа связывает аппаратные компоненты в работающую 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266099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180" y="323890"/>
            <a:ext cx="9071640" cy="125028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реализован. Создан работающий прототип шкафчика на ESP32 с RFID-доступом, управлением сервоприводом и световой индикацией. Система функционирует корректно, цель достигнута.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/>
          </p:nvPr>
        </p:nvSpPr>
        <p:spPr>
          <a:xfrm>
            <a:off x="366840" y="3749760"/>
            <a:ext cx="9071640" cy="328824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56180" y="2005664"/>
            <a:ext cx="88609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включают переход к сетевой системе с онлайн-базой пропусков, ведением логов и интеграцией в общую экосистему «Умной школы» с возможностью удалённого управления и добавления новых методов аутентификации.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Выполненная задача – Бесплатные иконки: руки и жесты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835" y="3469322"/>
            <a:ext cx="1988181" cy="198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Пнг Задание 30 фото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660" y="3553621"/>
            <a:ext cx="2111885" cy="183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01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0275" y="150360"/>
            <a:ext cx="9071640" cy="1250280"/>
          </a:xfrm>
        </p:spPr>
        <p:txBody>
          <a:bodyPr/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используемой литературы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/>
          </p:nvPr>
        </p:nvSpPr>
        <p:spPr>
          <a:xfrm>
            <a:off x="208800" y="1528560"/>
            <a:ext cx="9071640" cy="1250280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государственный образовательный стандарт основного общего образования. – М. просвещение, 2020.</a:t>
            </a:r>
          </a:p>
          <a:p>
            <a:endPara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Сайт Министерства просвещения Российской Федерации. –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//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edu.gov.ru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endPara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Ресурсы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программированию и платформам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разработки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https://docs.espressif.com/projects/arduino-esp32/en/latest/</a:t>
            </a:r>
            <a:endPara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Спецификации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руководства по периферийным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модулям</a:t>
            </a:r>
          </a:p>
          <a:p>
            <a:endPara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Официальная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на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микроконтроллер: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https://www.espressif.com/en/products/socs/esp32/resources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93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2000" dirty="0" smtClean="0"/>
              <a:t>Спасибо за внимание!!!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33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540</Words>
  <Application>Microsoft Office PowerPoint</Application>
  <PresentationFormat>Произвольный</PresentationFormat>
  <Paragraphs>65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Microsoft YaHei</vt:lpstr>
      <vt:lpstr>Arial</vt:lpstr>
      <vt:lpstr>DejaVu Sans</vt:lpstr>
      <vt:lpstr>Symbol</vt:lpstr>
      <vt:lpstr>Times New Roman</vt:lpstr>
      <vt:lpstr>Wingdings</vt:lpstr>
      <vt:lpstr>Office Theme</vt:lpstr>
      <vt:lpstr>Государственное бюджетное общеобразовательное учреждение города Москвы «Школа ГБОУ №2098 имени Героя Советского Союза Л.М.Доватора» </vt:lpstr>
      <vt:lpstr>Суть проекта. Идея</vt:lpstr>
      <vt:lpstr>Анализ рыночных аналогов</vt:lpstr>
      <vt:lpstr>Актуальность</vt:lpstr>
      <vt:lpstr>Цели и задачи</vt:lpstr>
      <vt:lpstr>Средства для выполнения проекта</vt:lpstr>
      <vt:lpstr>Выбор языка программирования C++</vt:lpstr>
      <vt:lpstr>Фрагменты кода</vt:lpstr>
      <vt:lpstr>  Вывод: Проект реализован. Создан работающий прототип шкафчика на ESP32 с RFID-доступом, управлением сервоприводом и световой индикацией. Система функционирует корректно, цель достигнута.</vt:lpstr>
      <vt:lpstr>Список используемой литературы</vt:lpstr>
      <vt:lpstr>Спасибо за внимание!!!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бюджетное общеобразовательное учреждение города Москвы «Школа ГБОУ №2098 имени Героя Советского Союза Л.М.Доватора»</dc:title>
  <dc:subject/>
  <dc:creator>User</dc:creator>
  <dc:description/>
  <cp:lastModifiedBy>User</cp:lastModifiedBy>
  <cp:revision>13</cp:revision>
  <dcterms:created xsi:type="dcterms:W3CDTF">2026-01-23T15:40:41Z</dcterms:created>
  <dcterms:modified xsi:type="dcterms:W3CDTF">2026-01-27T13:22:57Z</dcterms:modified>
  <dc:language>ru-RU</dc:language>
</cp:coreProperties>
</file>